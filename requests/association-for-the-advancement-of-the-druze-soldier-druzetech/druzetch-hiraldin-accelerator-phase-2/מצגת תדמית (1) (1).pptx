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69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4630400" cy="8229600"/>
  <p:notesSz cx="8229600" cy="146304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Narkisim" panose="020E0502050101010101" pitchFamily="34" charset="-79"/>
      <p:regular r:id="rId20"/>
    </p:embeddedFont>
    <p:embeddedFont>
      <p:font typeface="Miriam Fixed" panose="020B0509050101010101" pitchFamily="49" charset="-79"/>
      <p:regular r:id="rId21"/>
    </p:embeddedFont>
    <p:embeddedFont>
      <p:font typeface="Nunito Sans" panose="020B0604020202020204" charset="0"/>
      <p:regular r:id="rId22"/>
    </p:embeddedFont>
  </p:embeddedFont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55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431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72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0BBDB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0BBDB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0BBDB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0BBDB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0BBDB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0BBDB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0BBDB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0BBDB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0BBDB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0BBDB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0BBD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1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jpg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4757142" y="3525322"/>
            <a:ext cx="265878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864037" y="3525322"/>
            <a:ext cx="265878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11" name="Text 5"/>
          <p:cNvSpPr/>
          <p:nvPr/>
        </p:nvSpPr>
        <p:spPr>
          <a:xfrm>
            <a:off x="4757142" y="5055989"/>
            <a:ext cx="265878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000"/>
              </a:lnSpc>
              <a:buNone/>
            </a:pPr>
            <a:endParaRPr lang="en-US" sz="2400" dirty="0"/>
          </a:p>
        </p:txBody>
      </p:sp>
      <p:sp>
        <p:nvSpPr>
          <p:cNvPr id="12" name="Text 6"/>
          <p:cNvSpPr/>
          <p:nvPr/>
        </p:nvSpPr>
        <p:spPr>
          <a:xfrm>
            <a:off x="2720899" y="3525323"/>
            <a:ext cx="8386082" cy="172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endParaRPr lang="en-US" sz="2000" dirty="0"/>
          </a:p>
        </p:txBody>
      </p:sp>
      <p:sp>
        <p:nvSpPr>
          <p:cNvPr id="14" name="Text 7"/>
          <p:cNvSpPr/>
          <p:nvPr/>
        </p:nvSpPr>
        <p:spPr>
          <a:xfrm>
            <a:off x="864037" y="5055989"/>
            <a:ext cx="265878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000"/>
              </a:lnSpc>
              <a:buNone/>
            </a:pPr>
            <a:endParaRPr lang="en-US" sz="2400" dirty="0"/>
          </a:p>
        </p:txBody>
      </p:sp>
      <p:pic>
        <p:nvPicPr>
          <p:cNvPr id="18" name="תמונה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600" y="-22605"/>
            <a:ext cx="14732000" cy="68806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endPos="65000" dist="508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341755" y="3324386"/>
            <a:ext cx="10314878" cy="2080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100"/>
              </a:lnSpc>
            </a:pPr>
            <a:r>
              <a:rPr lang="he-IL" sz="2800" dirty="0">
                <a:latin typeface="Nunito Sans" pitchFamily="34" charset="0"/>
                <a:ea typeface="Nunito Sans" pitchFamily="34" charset="-122"/>
              </a:rPr>
              <a:t>מרכז החדשנות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he-IL" sz="2800" dirty="0">
                <a:latin typeface="Nunito Sans" pitchFamily="34" charset="0"/>
                <a:ea typeface="Nunito Sans" pitchFamily="34" charset="-122"/>
              </a:rPr>
              <a:t>הטכנולוגית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בעוספיה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הוא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יוזמה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לאומית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וחברתית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המובילה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שינוי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עמוק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בחברה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הדרוזית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–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באמצעות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חיבור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בני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נוער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,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חיילים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משוחררים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וצעירי</a:t>
            </a:r>
            <a:r>
              <a:rPr lang="he-IL" sz="2800" dirty="0">
                <a:latin typeface="Nunito Sans" pitchFamily="34" charset="0"/>
                <a:ea typeface="Nunito Sans" pitchFamily="34" charset="-122"/>
              </a:rPr>
              <a:t>ם וצעירות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לעולמות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ההיי-טק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והטכנולוגיה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.</a:t>
            </a:r>
            <a:r>
              <a:rPr lang="he-IL" sz="2800" dirty="0">
                <a:latin typeface="Nunito Sans" pitchFamily="34" charset="0"/>
                <a:ea typeface="Nunito Sans" pitchFamily="34" charset="-122"/>
              </a:rPr>
              <a:t> ז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הו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מהלך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של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העצמה</a:t>
            </a:r>
            <a:r>
              <a:rPr lang="he-IL" sz="2800" dirty="0">
                <a:latin typeface="Nunito Sans" pitchFamily="34" charset="0"/>
                <a:ea typeface="Nunito Sans" pitchFamily="34" charset="-122"/>
              </a:rPr>
              <a:t>,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הזדמנות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ושוויון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–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החותר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לשלב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את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בני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he-IL" sz="2800" dirty="0">
                <a:latin typeface="Nunito Sans" pitchFamily="34" charset="0"/>
                <a:ea typeface="Nunito Sans" pitchFamily="34" charset="-122"/>
              </a:rPr>
              <a:t>ובנות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העדה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בלב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הכלכלה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הישראלית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,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במקום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הראוי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2800" dirty="0" err="1">
                <a:latin typeface="Nunito Sans" pitchFamily="34" charset="0"/>
                <a:ea typeface="Nunito Sans" pitchFamily="34" charset="-122"/>
              </a:rPr>
              <a:t>להם</a:t>
            </a:r>
            <a:r>
              <a:rPr lang="en-US" sz="2800" dirty="0">
                <a:latin typeface="Nunito Sans" pitchFamily="34" charset="0"/>
                <a:ea typeface="Nunito Sans" pitchFamily="34" charset="-122"/>
              </a:rPr>
              <a:t>.</a:t>
            </a:r>
            <a:endParaRPr lang="en-US" sz="2800" dirty="0"/>
          </a:p>
        </p:txBody>
      </p:sp>
      <p:sp>
        <p:nvSpPr>
          <p:cNvPr id="4" name="מלבן 3"/>
          <p:cNvSpPr/>
          <p:nvPr/>
        </p:nvSpPr>
        <p:spPr>
          <a:xfrm>
            <a:off x="4148254" y="620387"/>
            <a:ext cx="8508379" cy="1656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6050"/>
              </a:lnSpc>
            </a:pPr>
            <a:r>
              <a:rPr lang="en-US" sz="4850" b="1" dirty="0" err="1">
                <a:solidFill>
                  <a:prstClr val="black"/>
                </a:solidFill>
                <a:latin typeface="Inter Bold" pitchFamily="34" charset="0"/>
                <a:ea typeface="Inter Bold" pitchFamily="34" charset="-122"/>
              </a:rPr>
              <a:t>מרכז</a:t>
            </a:r>
            <a:r>
              <a:rPr lang="en-US" sz="4850" b="1" dirty="0">
                <a:solidFill>
                  <a:prstClr val="black"/>
                </a:solidFill>
                <a:latin typeface="Inter Bold" pitchFamily="34" charset="0"/>
                <a:ea typeface="Inter Bold" pitchFamily="34" charset="-122"/>
              </a:rPr>
              <a:t> </a:t>
            </a:r>
            <a:r>
              <a:rPr lang="en-US" sz="4850" b="1" dirty="0" err="1">
                <a:solidFill>
                  <a:prstClr val="black"/>
                </a:solidFill>
                <a:latin typeface="Inter Bold" pitchFamily="34" charset="0"/>
                <a:ea typeface="Inter Bold" pitchFamily="34" charset="-122"/>
              </a:rPr>
              <a:t>החדשנות</a:t>
            </a:r>
            <a:r>
              <a:rPr lang="en-US" sz="4850" b="1" dirty="0">
                <a:solidFill>
                  <a:prstClr val="black"/>
                </a:solidFill>
                <a:latin typeface="Inter Bold" pitchFamily="34" charset="0"/>
                <a:ea typeface="Inter Bold" pitchFamily="34" charset="-122"/>
              </a:rPr>
              <a:t> DTEC </a:t>
            </a:r>
          </a:p>
          <a:p>
            <a:pPr lvl="0">
              <a:lnSpc>
                <a:spcPts val="6050"/>
              </a:lnSpc>
            </a:pPr>
            <a:r>
              <a:rPr lang="en-US" sz="4850" b="1" dirty="0" err="1">
                <a:solidFill>
                  <a:prstClr val="black"/>
                </a:solidFill>
                <a:latin typeface="Inter Bold" pitchFamily="34" charset="0"/>
                <a:ea typeface="Inter Bold" pitchFamily="34" charset="-122"/>
              </a:rPr>
              <a:t>משנים</a:t>
            </a:r>
            <a:r>
              <a:rPr lang="en-US" sz="4850" b="1" dirty="0">
                <a:solidFill>
                  <a:prstClr val="black"/>
                </a:solidFill>
                <a:latin typeface="Inter Bold" pitchFamily="34" charset="0"/>
                <a:ea typeface="Inter Bold" pitchFamily="34" charset="-122"/>
              </a:rPr>
              <a:t> </a:t>
            </a:r>
            <a:r>
              <a:rPr lang="en-US" sz="4850" b="1" dirty="0" err="1">
                <a:solidFill>
                  <a:prstClr val="black"/>
                </a:solidFill>
                <a:latin typeface="Inter Bold" pitchFamily="34" charset="0"/>
                <a:ea typeface="Inter Bold" pitchFamily="34" charset="-122"/>
              </a:rPr>
              <a:t>מציאות</a:t>
            </a:r>
            <a:r>
              <a:rPr lang="en-US" sz="4850" b="1" dirty="0">
                <a:solidFill>
                  <a:prstClr val="black"/>
                </a:solidFill>
                <a:latin typeface="Inter Bold" pitchFamily="34" charset="0"/>
                <a:ea typeface="Inter Bold" pitchFamily="34" charset="-122"/>
              </a:rPr>
              <a:t> </a:t>
            </a:r>
            <a:r>
              <a:rPr lang="en-US" sz="4850" b="1" dirty="0" err="1" smtClean="0">
                <a:solidFill>
                  <a:prstClr val="black"/>
                </a:solidFill>
                <a:latin typeface="Inter Bold" pitchFamily="34" charset="0"/>
                <a:ea typeface="Inter Bold" pitchFamily="34" charset="-122"/>
              </a:rPr>
              <a:t>דרך</a:t>
            </a:r>
            <a:r>
              <a:rPr lang="en-US" sz="4850" b="1" dirty="0" smtClean="0">
                <a:solidFill>
                  <a:prstClr val="black"/>
                </a:solidFill>
                <a:latin typeface="Inter Bold" pitchFamily="34" charset="0"/>
                <a:ea typeface="Inter Bold" pitchFamily="34" charset="-122"/>
              </a:rPr>
              <a:t> </a:t>
            </a:r>
            <a:r>
              <a:rPr lang="en-US" sz="4850" b="1" dirty="0" err="1" smtClean="0">
                <a:solidFill>
                  <a:prstClr val="black"/>
                </a:solidFill>
                <a:latin typeface="Inter Bold" pitchFamily="34" charset="0"/>
                <a:ea typeface="Inter Bold" pitchFamily="34" charset="-122"/>
              </a:rPr>
              <a:t>טכנולוגיה</a:t>
            </a:r>
            <a:endParaRPr lang="en-US" sz="4850" dirty="0">
              <a:solidFill>
                <a:prstClr val="black"/>
              </a:solidFill>
            </a:endParaRP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522822" cy="218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769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107763" y="1849636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3245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ערכי המרכז</a:t>
            </a:r>
            <a:endParaRPr lang="en-US" sz="4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743" y="3034546"/>
            <a:ext cx="617220" cy="6172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57142" y="2991445"/>
            <a:ext cx="265878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שוויון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4757142" y="3525322"/>
            <a:ext cx="265878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100"/>
              </a:lnSpc>
              <a:buNone/>
            </a:pPr>
            <a:r>
              <a:rPr lang="en-US" sz="19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יצירת הזדמנויות שוות לכל </a:t>
            </a:r>
            <a:r>
              <a:rPr lang="en-US" sz="1900" dirty="0" err="1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בני</a:t>
            </a:r>
            <a:r>
              <a:rPr lang="en-US" sz="19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he-IL" sz="19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ובנות </a:t>
            </a:r>
            <a:r>
              <a:rPr lang="en-US" sz="19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העדה</a:t>
            </a:r>
            <a:r>
              <a:rPr lang="en-US" sz="19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19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הדרוזית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9638" y="3034546"/>
            <a:ext cx="617220" cy="6172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4037" y="2991445"/>
            <a:ext cx="265878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חדשנות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864037" y="3525322"/>
            <a:ext cx="265878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100"/>
              </a:lnSpc>
              <a:buNone/>
            </a:pPr>
            <a:r>
              <a:rPr lang="en-US" sz="19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קידום פתרונות טכנולוגיים מתקדמים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743" y="5099090"/>
            <a:ext cx="617220" cy="617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57142" y="5055989"/>
            <a:ext cx="265878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קהילתיות</a:t>
            </a:r>
            <a:endParaRPr lang="en-US" sz="2400" dirty="0"/>
          </a:p>
        </p:txBody>
      </p:sp>
      <p:sp>
        <p:nvSpPr>
          <p:cNvPr id="12" name="Text 6"/>
          <p:cNvSpPr/>
          <p:nvPr/>
        </p:nvSpPr>
        <p:spPr>
          <a:xfrm>
            <a:off x="4757142" y="5589865"/>
            <a:ext cx="265878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100"/>
              </a:lnSpc>
              <a:buNone/>
            </a:pPr>
            <a:r>
              <a:rPr lang="en-US" sz="19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חיזוק</a:t>
            </a:r>
            <a:r>
              <a:rPr lang="en-US" sz="19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19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הקשר</a:t>
            </a:r>
            <a:r>
              <a:rPr lang="en-US" sz="19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19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בין</a:t>
            </a:r>
            <a:r>
              <a:rPr lang="en-US" sz="19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19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העדה</a:t>
            </a:r>
            <a:r>
              <a:rPr lang="en-US" sz="19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19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הדרוזית</a:t>
            </a:r>
            <a:r>
              <a:rPr lang="en-US" sz="19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19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למדינת</a:t>
            </a:r>
            <a:r>
              <a:rPr lang="en-US" sz="19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19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ישראל</a:t>
            </a:r>
            <a:endParaRPr lang="en-US" sz="1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9638" y="5099090"/>
            <a:ext cx="617220" cy="6172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64037" y="5055989"/>
            <a:ext cx="265878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חינוך</a:t>
            </a:r>
            <a:endParaRPr lang="en-US" sz="2400" dirty="0"/>
          </a:p>
        </p:txBody>
      </p:sp>
      <p:sp>
        <p:nvSpPr>
          <p:cNvPr id="15" name="Text 8"/>
          <p:cNvSpPr/>
          <p:nvPr/>
        </p:nvSpPr>
        <p:spPr>
          <a:xfrm>
            <a:off x="864037" y="5589865"/>
            <a:ext cx="265878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100"/>
              </a:lnSpc>
              <a:buNone/>
            </a:pPr>
            <a:r>
              <a:rPr lang="en-US" sz="19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השקעה בדור העתיד דרך הכשרות והעשרה</a:t>
            </a:r>
            <a:endParaRPr lang="en-US" sz="1900" dirty="0"/>
          </a:p>
        </p:txBody>
      </p:sp>
      <p:pic>
        <p:nvPicPr>
          <p:cNvPr id="17" name="תמונה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6779" y="100361"/>
            <a:ext cx="5693348" cy="812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4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31981" y="747832"/>
            <a:ext cx="5255538" cy="656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3245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מי אנחנו?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7375684" y="1909167"/>
            <a:ext cx="6119455" cy="1345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65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המרכז פועל כחלק מהעמותה לקידום מעמד החייל הדרוזי (הוקמה ב-2009 ע"י קופטאן חלבי), ובתמיכת בכירים מהשירות הציבורי, התעשייה והאקדמיה. מאז הקמתו באוקטובר 2024, המרכז פועל לקידום השתלבות טכנולוגית של צעירים דרוזים – עם הכשרות, ליווי אישי, ושותפויות רחבות</a:t>
            </a:r>
            <a:r>
              <a:rPr lang="en-US" sz="165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13022223" y="3727490"/>
            <a:ext cx="472916" cy="472916"/>
          </a:xfrm>
          <a:prstGeom prst="roundRect">
            <a:avLst>
              <a:gd name="adj" fmla="val 18670"/>
            </a:avLst>
          </a:prstGeom>
          <a:solidFill>
            <a:srgbClr val="D8DBF3"/>
          </a:solidFill>
          <a:ln w="7620">
            <a:solidFill>
              <a:srgbClr val="BEC1D9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1042" y="3766899"/>
            <a:ext cx="315278" cy="3940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84368" y="3727490"/>
            <a:ext cx="2627709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שותפויות אסטרטגיות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7375684" y="4266009"/>
            <a:ext cx="5436394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650" dirty="0">
                <a:solidFill>
                  <a:srgbClr val="002060"/>
                </a:solidFill>
                <a:latin typeface="Narkisim" panose="020E0502050101010101" pitchFamily="34" charset="-79"/>
                <a:ea typeface="Nunito Sans" pitchFamily="34" charset="-122"/>
              </a:rPr>
              <a:t>עם גורמים מובילים בתעשייה ובאקדמיה</a:t>
            </a:r>
            <a:endParaRPr lang="en-US" sz="1650" dirty="0">
              <a:latin typeface="Narkisim" panose="020E0502050101010101" pitchFamily="34" charset="-79"/>
            </a:endParaRPr>
          </a:p>
        </p:txBody>
      </p:sp>
      <p:sp>
        <p:nvSpPr>
          <p:cNvPr id="9" name="Shape 5"/>
          <p:cNvSpPr/>
          <p:nvPr/>
        </p:nvSpPr>
        <p:spPr>
          <a:xfrm>
            <a:off x="13022223" y="5048964"/>
            <a:ext cx="472916" cy="472916"/>
          </a:xfrm>
          <a:prstGeom prst="roundRect">
            <a:avLst>
              <a:gd name="adj" fmla="val 18670"/>
            </a:avLst>
          </a:prstGeom>
          <a:solidFill>
            <a:srgbClr val="D8DBF3"/>
          </a:solidFill>
          <a:ln w="7620">
            <a:solidFill>
              <a:srgbClr val="BEC1D9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1042" y="5088374"/>
            <a:ext cx="315278" cy="3940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184368" y="5048964"/>
            <a:ext cx="2627709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ליווי אישי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7375684" y="5587484"/>
            <a:ext cx="5436394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65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תמיכה וחניכה לכל משתתף בתכניות המרכז</a:t>
            </a:r>
            <a:endParaRPr lang="en-US" sz="1650" dirty="0"/>
          </a:p>
        </p:txBody>
      </p:sp>
      <p:sp>
        <p:nvSpPr>
          <p:cNvPr id="13" name="Shape 8"/>
          <p:cNvSpPr/>
          <p:nvPr/>
        </p:nvSpPr>
        <p:spPr>
          <a:xfrm>
            <a:off x="13022223" y="6370439"/>
            <a:ext cx="472916" cy="472916"/>
          </a:xfrm>
          <a:prstGeom prst="roundRect">
            <a:avLst>
              <a:gd name="adj" fmla="val 18670"/>
            </a:avLst>
          </a:prstGeom>
          <a:solidFill>
            <a:srgbClr val="D8DBF3"/>
          </a:solidFill>
          <a:ln w="7620">
            <a:solidFill>
              <a:srgbClr val="BEC1D9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1042" y="6409849"/>
            <a:ext cx="315278" cy="39409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184368" y="6370439"/>
            <a:ext cx="2627709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הכשרות מקצועיות</a:t>
            </a:r>
            <a:endParaRPr lang="en-US" sz="2050" dirty="0"/>
          </a:p>
        </p:txBody>
      </p:sp>
      <p:sp>
        <p:nvSpPr>
          <p:cNvPr id="16" name="Text 10"/>
          <p:cNvSpPr/>
          <p:nvPr/>
        </p:nvSpPr>
        <p:spPr>
          <a:xfrm>
            <a:off x="7375684" y="6908959"/>
            <a:ext cx="5436394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65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קורסים מותאמים לצרכי התעשייה</a:t>
            </a:r>
            <a:endParaRPr lang="en-US" sz="16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  <p:pic>
        <p:nvPicPr>
          <p:cNvPr id="18" name="תמונה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867" y="747832"/>
            <a:ext cx="3416936" cy="2974588"/>
          </a:xfrm>
          <a:prstGeom prst="rect">
            <a:avLst/>
          </a:prstGeom>
        </p:spPr>
      </p:pic>
      <p:pic>
        <p:nvPicPr>
          <p:cNvPr id="20" name="תמונה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378" y="4266009"/>
            <a:ext cx="3361425" cy="3361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0719" y="653534"/>
            <a:ext cx="5826800" cy="728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700"/>
              </a:lnSpc>
              <a:buNone/>
            </a:pPr>
            <a:r>
              <a:rPr lang="en-US" sz="4550" b="1" dirty="0">
                <a:solidFill>
                  <a:srgbClr val="3245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מה כבר עשינו?</a:t>
            </a:r>
            <a:endParaRPr lang="en-US" sz="4550" dirty="0"/>
          </a:p>
        </p:txBody>
      </p:sp>
      <p:sp>
        <p:nvSpPr>
          <p:cNvPr id="3" name="Text 1"/>
          <p:cNvSpPr/>
          <p:nvPr/>
        </p:nvSpPr>
        <p:spPr>
          <a:xfrm>
            <a:off x="9424868" y="1731407"/>
            <a:ext cx="4062651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3245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הכשרות שבוצעו (2022–2024):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418915" y="2445068"/>
            <a:ext cx="4068604" cy="1730931"/>
          </a:xfrm>
          <a:prstGeom prst="roundRect">
            <a:avLst>
              <a:gd name="adj" fmla="val 5655"/>
            </a:avLst>
          </a:prstGeom>
          <a:solidFill>
            <a:srgbClr val="D8DBF3"/>
          </a:solidFill>
          <a:ln w="7620">
            <a:solidFill>
              <a:srgbClr val="BEC1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3553" y="2685693"/>
            <a:ext cx="2913340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קורסי QA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659541" y="3189565"/>
            <a:ext cx="3587353" cy="74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900"/>
              </a:lnSpc>
              <a:buNone/>
            </a:pPr>
            <a:r>
              <a:rPr lang="en-US" sz="1800" dirty="0" err="1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שני</a:t>
            </a:r>
            <a:r>
              <a:rPr lang="en-US" sz="18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18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קורסי</a:t>
            </a:r>
            <a:r>
              <a:rPr lang="en-US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QA</a:t>
            </a:r>
            <a:r>
              <a:rPr lang="en-US" sz="18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18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בדיקות</a:t>
            </a:r>
            <a:r>
              <a:rPr lang="en-US" sz="18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18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תוכנה</a:t>
            </a:r>
            <a:r>
              <a:rPr lang="en-US" sz="18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18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בשיתוף</a:t>
            </a:r>
            <a:r>
              <a:rPr lang="en-US" sz="18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הטכניון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17306" y="2445068"/>
            <a:ext cx="4068604" cy="1730931"/>
          </a:xfrm>
          <a:prstGeom prst="roundRect">
            <a:avLst>
              <a:gd name="adj" fmla="val 5655"/>
            </a:avLst>
          </a:prstGeom>
          <a:solidFill>
            <a:srgbClr val="D8DBF3"/>
          </a:solidFill>
          <a:ln w="7620">
            <a:solidFill>
              <a:srgbClr val="BEC1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1944" y="2685693"/>
            <a:ext cx="2913340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קורס סייבר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357932" y="3189565"/>
            <a:ext cx="3587353" cy="37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9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קורס סייבר הגנתי – עם הטכניון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5697" y="2445068"/>
            <a:ext cx="4068604" cy="1730931"/>
          </a:xfrm>
          <a:prstGeom prst="roundRect">
            <a:avLst>
              <a:gd name="adj" fmla="val 5655"/>
            </a:avLst>
          </a:prstGeom>
          <a:solidFill>
            <a:srgbClr val="D8DBF3"/>
          </a:solidFill>
          <a:ln w="7620">
            <a:solidFill>
              <a:srgbClr val="BEC1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0335" y="2685693"/>
            <a:ext cx="2913340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קורס CCNA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56323" y="3189565"/>
            <a:ext cx="3587353" cy="37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9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בשיתוף חברת </a:t>
            </a:r>
            <a:r>
              <a:rPr lang="en-US" sz="18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CISCO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68051" y="4409003"/>
            <a:ext cx="6219468" cy="1730931"/>
          </a:xfrm>
          <a:prstGeom prst="roundRect">
            <a:avLst>
              <a:gd name="adj" fmla="val 5655"/>
            </a:avLst>
          </a:prstGeom>
          <a:solidFill>
            <a:srgbClr val="D8DBF3"/>
          </a:solidFill>
          <a:ln w="7620">
            <a:solidFill>
              <a:srgbClr val="BEC1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3553" y="4649629"/>
            <a:ext cx="2913340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קורס SOC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508677" y="5153501"/>
            <a:ext cx="5738217" cy="37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9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עם מיקרוסופט ועמותת תפוח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5578" y="4409003"/>
            <a:ext cx="6219468" cy="1730931"/>
          </a:xfrm>
          <a:prstGeom prst="roundRect">
            <a:avLst>
              <a:gd name="adj" fmla="val 5655"/>
            </a:avLst>
          </a:prstGeom>
          <a:solidFill>
            <a:srgbClr val="D8DBF3"/>
          </a:solidFill>
          <a:ln w="7620">
            <a:solidFill>
              <a:srgbClr val="BEC1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1080" y="4649629"/>
            <a:ext cx="2913340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הנדסאי מכטרוניקה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56203" y="5153501"/>
            <a:ext cx="5738217" cy="74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9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תמיכה בגיוס משתתפים ללימודי הנדסאי מכטרוניקה – עם רפאל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74179" y="6489502"/>
            <a:ext cx="2913340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3245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פעילות שוטפת: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815697" y="7203162"/>
            <a:ext cx="12671822" cy="37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9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כיום מתקיימים שני קורסי QA נוספים במרכז, בהמשך להצלחת המחזורים הקודמים</a:t>
            </a:r>
            <a:endParaRPr lang="en-US" sz="18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0614" y="784860"/>
            <a:ext cx="5716905" cy="714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600"/>
              </a:lnSpc>
              <a:buNone/>
            </a:pPr>
            <a:r>
              <a:rPr lang="en-US" sz="4500" b="1" dirty="0">
                <a:solidFill>
                  <a:srgbClr val="3245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מה קורה עכשיו?</a:t>
            </a:r>
            <a:endParaRPr lang="en-US" sz="4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162" y="1956792"/>
            <a:ext cx="1143357" cy="13719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2809" y="2185392"/>
            <a:ext cx="285845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שני </a:t>
            </a:r>
            <a:r>
              <a:rPr lang="en-US" sz="2250" b="1" dirty="0" err="1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קורסי</a:t>
            </a:r>
            <a:r>
              <a:rPr lang="en-US" sz="22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2250" b="1" dirty="0" err="1" smtClean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QAפעילים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800338" y="2679859"/>
            <a:ext cx="11200924" cy="36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המשך הכשרות בתחום בדיקות התוכנה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162" y="3328749"/>
            <a:ext cx="1143357" cy="13719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2809" y="3557349"/>
            <a:ext cx="285845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תכנית יזמות טכנולוגית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800338" y="4051816"/>
            <a:ext cx="11200924" cy="36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תכנית דו-שנתית בזכייה מקול קורא של רשות החדשנות</a:t>
            </a:r>
            <a:endParaRPr lang="en-US" sz="1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162" y="4700707"/>
            <a:ext cx="1143357" cy="13719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2809" y="4929307"/>
            <a:ext cx="285845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מנטורינג מקצועי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800338" y="5423773"/>
            <a:ext cx="11200924" cy="36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ליווי עסקי למיזמים צעירים</a:t>
            </a:r>
            <a:endParaRPr lang="en-US" sz="1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162" y="6072664"/>
            <a:ext cx="1143357" cy="13719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2809" y="6301264"/>
            <a:ext cx="285845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שיתופי פעולה</a:t>
            </a:r>
            <a:endParaRPr lang="en-US" sz="2250" dirty="0"/>
          </a:p>
        </p:txBody>
      </p:sp>
      <p:sp>
        <p:nvSpPr>
          <p:cNvPr id="14" name="Text 8"/>
          <p:cNvSpPr/>
          <p:nvPr/>
        </p:nvSpPr>
        <p:spPr>
          <a:xfrm>
            <a:off x="740281" y="6596712"/>
            <a:ext cx="11321038" cy="39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8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הקרן</a:t>
            </a:r>
            <a:r>
              <a:rPr lang="en-US" sz="18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והיחידה להכוונת חיילים משוחררים, משרד הכלכלה, מנהל אוכלוסיות בצה"ל, </a:t>
            </a:r>
            <a:r>
              <a:rPr lang="en-US" sz="1800" dirty="0" err="1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משרד</a:t>
            </a:r>
            <a:r>
              <a:rPr lang="en-US" sz="18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18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העבודה,cisco</a:t>
            </a:r>
            <a:r>
              <a:rPr lang="en-US" sz="18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,cob </a:t>
            </a:r>
            <a:endParaRPr lang="en-US" sz="18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  <p:sp>
        <p:nvSpPr>
          <p:cNvPr id="17" name="מלבן 16"/>
          <p:cNvSpPr/>
          <p:nvPr/>
        </p:nvSpPr>
        <p:spPr>
          <a:xfrm>
            <a:off x="1634117" y="6625416"/>
            <a:ext cx="10647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Experis</a:t>
            </a:r>
            <a:r>
              <a:rPr lang="en-US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 </a:t>
            </a:r>
            <a:endParaRPr lang="he-I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319" y="766167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3245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תחומי השפעה</a:t>
            </a:r>
            <a:endParaRPr lang="en-US" sz="4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757" y="3676293"/>
            <a:ext cx="7574042" cy="757404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1556" y="6115883"/>
            <a:ext cx="416600" cy="520779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8757" y="3676293"/>
            <a:ext cx="7574042" cy="757404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4459" y="4578787"/>
            <a:ext cx="416600" cy="520779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8757" y="3676293"/>
            <a:ext cx="7574042" cy="757404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0497" y="4578787"/>
            <a:ext cx="416600" cy="520779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8757" y="3676293"/>
            <a:ext cx="7574042" cy="7574042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3400" y="6115883"/>
            <a:ext cx="416600" cy="520779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10962799" y="4970843"/>
            <a:ext cx="2311956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3245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קידום נשים</a:t>
            </a:r>
            <a:endParaRPr lang="en-US" sz="2400" dirty="0"/>
          </a:p>
        </p:txBody>
      </p:sp>
      <p:sp>
        <p:nvSpPr>
          <p:cNvPr id="12" name="Text 2"/>
          <p:cNvSpPr/>
          <p:nvPr/>
        </p:nvSpPr>
        <p:spPr>
          <a:xfrm>
            <a:off x="10927676" y="5517043"/>
            <a:ext cx="231195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100"/>
              </a:lnSpc>
              <a:buNone/>
            </a:pPr>
            <a:r>
              <a:rPr lang="en-US" sz="19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לעולם המדעים וההייטק</a:t>
            </a:r>
            <a:endParaRPr lang="en-US" sz="1900" dirty="0"/>
          </a:p>
        </p:txBody>
      </p:sp>
      <p:sp>
        <p:nvSpPr>
          <p:cNvPr id="13" name="Text 3"/>
          <p:cNvSpPr/>
          <p:nvPr/>
        </p:nvSpPr>
        <p:spPr>
          <a:xfrm>
            <a:off x="8049459" y="2536796"/>
            <a:ext cx="2878217" cy="418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3245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שיתופי פעולה</a:t>
            </a:r>
            <a:endParaRPr lang="en-US" sz="2400" dirty="0"/>
          </a:p>
        </p:txBody>
      </p:sp>
      <p:sp>
        <p:nvSpPr>
          <p:cNvPr id="14" name="Text 4"/>
          <p:cNvSpPr/>
          <p:nvPr/>
        </p:nvSpPr>
        <p:spPr>
          <a:xfrm>
            <a:off x="7935672" y="2920827"/>
            <a:ext cx="287821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3100"/>
              </a:lnSpc>
              <a:buNone/>
            </a:pPr>
            <a:r>
              <a:rPr lang="en-US" sz="19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חיזוק הקשרים עם הממשלה והתעשייה</a:t>
            </a:r>
            <a:endParaRPr lang="en-US" sz="1900" dirty="0"/>
          </a:p>
        </p:txBody>
      </p:sp>
      <p:sp>
        <p:nvSpPr>
          <p:cNvPr id="15" name="Text 5"/>
          <p:cNvSpPr/>
          <p:nvPr/>
        </p:nvSpPr>
        <p:spPr>
          <a:xfrm>
            <a:off x="3547742" y="2463646"/>
            <a:ext cx="287809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3245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שגרירים קהילתיים</a:t>
            </a:r>
            <a:endParaRPr lang="en-US" sz="2400" dirty="0"/>
          </a:p>
        </p:txBody>
      </p:sp>
      <p:sp>
        <p:nvSpPr>
          <p:cNvPr id="16" name="Text 6"/>
          <p:cNvSpPr/>
          <p:nvPr/>
        </p:nvSpPr>
        <p:spPr>
          <a:xfrm>
            <a:off x="3433955" y="2983444"/>
            <a:ext cx="28780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3100"/>
              </a:lnSpc>
              <a:buNone/>
            </a:pPr>
            <a:r>
              <a:rPr lang="en-US" sz="19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טיפוח בוגרי תכניות כמובילי דרך</a:t>
            </a:r>
            <a:endParaRPr lang="en-US" sz="1900" dirty="0"/>
          </a:p>
        </p:txBody>
      </p:sp>
      <p:sp>
        <p:nvSpPr>
          <p:cNvPr id="17" name="Text 7"/>
          <p:cNvSpPr/>
          <p:nvPr/>
        </p:nvSpPr>
        <p:spPr>
          <a:xfrm>
            <a:off x="627458" y="5873029"/>
            <a:ext cx="287821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3245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שירות צבאי טכנולוגי</a:t>
            </a:r>
            <a:endParaRPr lang="en-US" sz="2400" dirty="0"/>
          </a:p>
        </p:txBody>
      </p:sp>
      <p:sp>
        <p:nvSpPr>
          <p:cNvPr id="18" name="Text 8"/>
          <p:cNvSpPr/>
          <p:nvPr/>
        </p:nvSpPr>
        <p:spPr>
          <a:xfrm>
            <a:off x="596408" y="6346403"/>
            <a:ext cx="2878217" cy="498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3100"/>
              </a:lnSpc>
              <a:buNone/>
            </a:pPr>
            <a:r>
              <a:rPr lang="en-US" sz="19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הנגשה והכנה להשכלה גבוהה</a:t>
            </a:r>
            <a:endParaRPr lang="en-US" sz="19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044791" y="452954"/>
            <a:ext cx="4510326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3245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אירועים וביקורים מרכזיים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8343067" y="1242179"/>
            <a:ext cx="22860" cy="6523315"/>
          </a:xfrm>
          <a:prstGeom prst="roundRect">
            <a:avLst>
              <a:gd name="adj" fmla="val 309160"/>
            </a:avLst>
          </a:prstGeom>
          <a:solidFill>
            <a:srgbClr val="BEC1D9"/>
          </a:solidFill>
          <a:ln/>
        </p:spPr>
      </p:sp>
      <p:sp>
        <p:nvSpPr>
          <p:cNvPr id="5" name="Shape 2"/>
          <p:cNvSpPr/>
          <p:nvPr/>
        </p:nvSpPr>
        <p:spPr>
          <a:xfrm>
            <a:off x="7694831" y="1609130"/>
            <a:ext cx="504706" cy="22860"/>
          </a:xfrm>
          <a:prstGeom prst="roundRect">
            <a:avLst>
              <a:gd name="adj" fmla="val 309160"/>
            </a:avLst>
          </a:prstGeom>
          <a:solidFill>
            <a:srgbClr val="BEC1D9"/>
          </a:solidFill>
          <a:ln/>
        </p:spPr>
      </p:sp>
      <p:sp>
        <p:nvSpPr>
          <p:cNvPr id="6" name="Shape 3"/>
          <p:cNvSpPr/>
          <p:nvPr/>
        </p:nvSpPr>
        <p:spPr>
          <a:xfrm>
            <a:off x="8176677" y="1431369"/>
            <a:ext cx="378500" cy="378500"/>
          </a:xfrm>
          <a:prstGeom prst="roundRect">
            <a:avLst>
              <a:gd name="adj" fmla="val 18672"/>
            </a:avLst>
          </a:prstGeom>
          <a:solidFill>
            <a:srgbClr val="D8DBF3"/>
          </a:solidFill>
          <a:ln w="7620">
            <a:solidFill>
              <a:srgbClr val="BEC1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39720" y="1462861"/>
            <a:ext cx="252293" cy="315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5290780" y="1421565"/>
            <a:ext cx="2233732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חניכת המרכז (10/2023)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88883" y="1774150"/>
            <a:ext cx="6935629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פתיחה רשמית של מרכז החדשנות </a:t>
            </a:r>
            <a:r>
              <a:rPr lang="en-US" sz="13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DTEC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94831" y="2746653"/>
            <a:ext cx="504706" cy="22860"/>
          </a:xfrm>
          <a:prstGeom prst="roundRect">
            <a:avLst>
              <a:gd name="adj" fmla="val 309160"/>
            </a:avLst>
          </a:prstGeom>
          <a:solidFill>
            <a:srgbClr val="BEC1D9"/>
          </a:solidFill>
          <a:ln/>
        </p:spPr>
      </p:sp>
      <p:sp>
        <p:nvSpPr>
          <p:cNvPr id="11" name="Shape 8"/>
          <p:cNvSpPr/>
          <p:nvPr/>
        </p:nvSpPr>
        <p:spPr>
          <a:xfrm>
            <a:off x="8176677" y="2568893"/>
            <a:ext cx="378500" cy="378500"/>
          </a:xfrm>
          <a:prstGeom prst="roundRect">
            <a:avLst>
              <a:gd name="adj" fmla="val 18672"/>
            </a:avLst>
          </a:prstGeom>
          <a:solidFill>
            <a:srgbClr val="D8DBF3"/>
          </a:solidFill>
          <a:ln w="7620">
            <a:solidFill>
              <a:srgbClr val="BEC1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39720" y="2600385"/>
            <a:ext cx="252293" cy="315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5421154" y="2547938"/>
            <a:ext cx="2103358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ביקורי בכירים 2023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88883" y="2911673"/>
            <a:ext cx="6935629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נגידת בנק ישראל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88883" y="3239572"/>
            <a:ext cx="6935629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מנכ"ל הרשות לחדשנות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88883" y="3567470"/>
            <a:ext cx="6935629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2060"/>
                </a:solidFill>
                <a:latin typeface="Miriam Fixed" panose="020B0509050101010101" pitchFamily="49" charset="-79"/>
                <a:ea typeface="Nunito Sans" pitchFamily="34" charset="-122"/>
              </a:rPr>
              <a:t>שגריר בחריין</a:t>
            </a:r>
            <a:endParaRPr lang="en-US" sz="1300" dirty="0">
              <a:latin typeface="Miriam Fixed" panose="020B0509050101010101" pitchFamily="49" charset="-79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88883" y="3895368"/>
            <a:ext cx="6935629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האסטרונאוט איתן סטיבה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9365" y="4195048"/>
            <a:ext cx="6935629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יו"ר מפעל הפיס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88883" y="4551164"/>
            <a:ext cx="6935629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מנכ"לית משרד העבודה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88883" y="4879062"/>
            <a:ext cx="6935629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חברי כנסת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88883" y="5206960"/>
            <a:ext cx="6935629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בכירים מהממשלה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694831" y="6179463"/>
            <a:ext cx="504706" cy="22860"/>
          </a:xfrm>
          <a:prstGeom prst="roundRect">
            <a:avLst>
              <a:gd name="adj" fmla="val 309160"/>
            </a:avLst>
          </a:prstGeom>
          <a:solidFill>
            <a:srgbClr val="BEC1D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76677" y="6001703"/>
            <a:ext cx="378500" cy="378500"/>
          </a:xfrm>
          <a:prstGeom prst="roundRect">
            <a:avLst>
              <a:gd name="adj" fmla="val 18672"/>
            </a:avLst>
          </a:prstGeom>
          <a:solidFill>
            <a:srgbClr val="D8DBF3"/>
          </a:solidFill>
          <a:ln w="7620">
            <a:solidFill>
              <a:srgbClr val="BEC1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39720" y="6033195"/>
            <a:ext cx="252293" cy="315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5421154" y="5980748"/>
            <a:ext cx="2103358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ביקורים 2024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588883" y="6344483"/>
            <a:ext cx="6935629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נציגי מפא"ת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88883" y="6672382"/>
            <a:ext cx="6935629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נציגים בכירים ממשרדי ממשלה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88883" y="7000280"/>
            <a:ext cx="6935629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נציגים ממשרד ראש הממשלה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88883" y="7328178"/>
            <a:ext cx="6935629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חברי כנסת ועוד</a:t>
            </a:r>
            <a:endParaRPr lang="en-US" sz="1300" dirty="0"/>
          </a:p>
        </p:txBody>
      </p:sp>
      <p:pic>
        <p:nvPicPr>
          <p:cNvPr id="30" name="תמונה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621209"/>
            <a:ext cx="4962293" cy="3460137"/>
          </a:xfrm>
          <a:prstGeom prst="rect">
            <a:avLst/>
          </a:prstGeom>
        </p:spPr>
      </p:pic>
      <p:pic>
        <p:nvPicPr>
          <p:cNvPr id="31" name="תמונה 3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4619759"/>
            <a:ext cx="4829624" cy="33331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23208" y="547688"/>
            <a:ext cx="4964311" cy="620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245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מה צפוי בשנת 2025?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12208312" y="1565315"/>
            <a:ext cx="1279208" cy="1143953"/>
          </a:xfrm>
          <a:prstGeom prst="roundRect">
            <a:avLst>
              <a:gd name="adj" fmla="val 7291"/>
            </a:avLst>
          </a:prstGeom>
          <a:solidFill>
            <a:srgbClr val="D8DBF3"/>
          </a:solidFill>
          <a:ln w="7620">
            <a:solidFill>
              <a:srgbClr val="BEC1D9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374" y="1962745"/>
            <a:ext cx="279202" cy="3489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56225" y="1763792"/>
            <a:ext cx="125360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מרכז יזמות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756225" y="2193131"/>
            <a:ext cx="1253609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500"/>
              </a:lnSpc>
              <a:buNone/>
            </a:pPr>
            <a:r>
              <a:rPr lang="en-US" sz="155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בשיתוף רד בינת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4147" y="2699742"/>
            <a:ext cx="11314986" cy="11430"/>
          </a:xfrm>
          <a:prstGeom prst="roundRect">
            <a:avLst>
              <a:gd name="adj" fmla="val 729670"/>
            </a:avLst>
          </a:prstGeom>
          <a:solidFill>
            <a:srgbClr val="BEC1D9"/>
          </a:solidFill>
          <a:ln/>
        </p:spPr>
      </p:sp>
      <p:sp>
        <p:nvSpPr>
          <p:cNvPr id="8" name="Shape 5"/>
          <p:cNvSpPr/>
          <p:nvPr/>
        </p:nvSpPr>
        <p:spPr>
          <a:xfrm>
            <a:off x="10929104" y="2808446"/>
            <a:ext cx="2558415" cy="1143953"/>
          </a:xfrm>
          <a:prstGeom prst="roundRect">
            <a:avLst>
              <a:gd name="adj" fmla="val 7291"/>
            </a:avLst>
          </a:prstGeom>
          <a:solidFill>
            <a:srgbClr val="D8DBF3"/>
          </a:solidFill>
          <a:ln w="7620">
            <a:solidFill>
              <a:srgbClr val="BEC1D9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8770" y="3205877"/>
            <a:ext cx="279202" cy="3489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85716" y="3006923"/>
            <a:ext cx="214491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מכינה קדם-אקדמית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8585716" y="3436263"/>
            <a:ext cx="2144911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500"/>
              </a:lnSpc>
              <a:buNone/>
            </a:pPr>
            <a:r>
              <a:rPr lang="en-US" sz="155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הקמת מכינה טכנולוגית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794147" y="3942874"/>
            <a:ext cx="10035778" cy="11430"/>
          </a:xfrm>
          <a:prstGeom prst="roundRect">
            <a:avLst>
              <a:gd name="adj" fmla="val 729670"/>
            </a:avLst>
          </a:prstGeom>
          <a:solidFill>
            <a:srgbClr val="BEC1D9"/>
          </a:solidFill>
          <a:ln/>
        </p:spPr>
      </p:sp>
      <p:sp>
        <p:nvSpPr>
          <p:cNvPr id="13" name="Shape 9"/>
          <p:cNvSpPr/>
          <p:nvPr/>
        </p:nvSpPr>
        <p:spPr>
          <a:xfrm>
            <a:off x="9649778" y="4051578"/>
            <a:ext cx="3837742" cy="1143953"/>
          </a:xfrm>
          <a:prstGeom prst="roundRect">
            <a:avLst>
              <a:gd name="adj" fmla="val 7291"/>
            </a:avLst>
          </a:prstGeom>
          <a:solidFill>
            <a:srgbClr val="D8DBF3"/>
          </a:solidFill>
          <a:ln w="7620">
            <a:solidFill>
              <a:srgbClr val="BEC1D9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9048" y="4449008"/>
            <a:ext cx="279202" cy="3489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03068" y="4250055"/>
            <a:ext cx="204823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שירות לאומי-אזרחי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7403068" y="4679394"/>
            <a:ext cx="2048232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500"/>
              </a:lnSpc>
              <a:buNone/>
            </a:pPr>
            <a:r>
              <a:rPr lang="en-US" sz="155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הקמת מסלול טכנולוגי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794147" y="5186005"/>
            <a:ext cx="8756452" cy="11430"/>
          </a:xfrm>
          <a:prstGeom prst="roundRect">
            <a:avLst>
              <a:gd name="adj" fmla="val 729670"/>
            </a:avLst>
          </a:prstGeom>
          <a:solidFill>
            <a:srgbClr val="BEC1D9"/>
          </a:solidFill>
          <a:ln/>
        </p:spPr>
      </p:sp>
      <p:sp>
        <p:nvSpPr>
          <p:cNvPr id="18" name="Shape 13"/>
          <p:cNvSpPr/>
          <p:nvPr/>
        </p:nvSpPr>
        <p:spPr>
          <a:xfrm>
            <a:off x="8370570" y="5294709"/>
            <a:ext cx="5116949" cy="1143953"/>
          </a:xfrm>
          <a:prstGeom prst="roundRect">
            <a:avLst>
              <a:gd name="adj" fmla="val 7291"/>
            </a:avLst>
          </a:prstGeom>
          <a:solidFill>
            <a:srgbClr val="D8DBF3"/>
          </a:solidFill>
          <a:ln w="7620">
            <a:solidFill>
              <a:srgbClr val="BEC1D9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444" y="5692140"/>
            <a:ext cx="279202" cy="3489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89997" y="5493187"/>
            <a:ext cx="2482096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קרנות תמיכה</a:t>
            </a:r>
            <a:endParaRPr lang="en-US" sz="1950" dirty="0"/>
          </a:p>
        </p:txBody>
      </p:sp>
      <p:sp>
        <p:nvSpPr>
          <p:cNvPr id="21" name="Text 15"/>
          <p:cNvSpPr/>
          <p:nvPr/>
        </p:nvSpPr>
        <p:spPr>
          <a:xfrm>
            <a:off x="5315188" y="5922526"/>
            <a:ext cx="2856905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500"/>
              </a:lnSpc>
              <a:buNone/>
            </a:pPr>
            <a:r>
              <a:rPr lang="en-US" sz="155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מלגות למחייה ותמיכה ביזמים צעירים</a:t>
            </a:r>
            <a:endParaRPr lang="en-US" sz="1550" dirty="0"/>
          </a:p>
        </p:txBody>
      </p:sp>
      <p:sp>
        <p:nvSpPr>
          <p:cNvPr id="22" name="Shape 16"/>
          <p:cNvSpPr/>
          <p:nvPr/>
        </p:nvSpPr>
        <p:spPr>
          <a:xfrm>
            <a:off x="794147" y="6429137"/>
            <a:ext cx="7477244" cy="11430"/>
          </a:xfrm>
          <a:prstGeom prst="roundRect">
            <a:avLst>
              <a:gd name="adj" fmla="val 729670"/>
            </a:avLst>
          </a:prstGeom>
          <a:solidFill>
            <a:srgbClr val="BEC1D9"/>
          </a:solidFill>
          <a:ln/>
        </p:spPr>
      </p:sp>
      <p:sp>
        <p:nvSpPr>
          <p:cNvPr id="23" name="Shape 17"/>
          <p:cNvSpPr/>
          <p:nvPr/>
        </p:nvSpPr>
        <p:spPr>
          <a:xfrm>
            <a:off x="7091243" y="6537841"/>
            <a:ext cx="6396276" cy="1143953"/>
          </a:xfrm>
          <a:prstGeom prst="roundRect">
            <a:avLst>
              <a:gd name="adj" fmla="val 7291"/>
            </a:avLst>
          </a:prstGeom>
          <a:solidFill>
            <a:srgbClr val="D8DBF3"/>
          </a:solidFill>
          <a:ln w="7620">
            <a:solidFill>
              <a:srgbClr val="BEC1D9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0" y="6935272"/>
            <a:ext cx="279202" cy="3489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410670" y="6736318"/>
            <a:ext cx="2482096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הרחבת שיתופי פעולה</a:t>
            </a:r>
            <a:endParaRPr lang="en-US" sz="1950" dirty="0"/>
          </a:p>
        </p:txBody>
      </p:sp>
      <p:sp>
        <p:nvSpPr>
          <p:cNvPr id="26" name="Text 19"/>
          <p:cNvSpPr/>
          <p:nvPr/>
        </p:nvSpPr>
        <p:spPr>
          <a:xfrm>
            <a:off x="4378523" y="7165657"/>
            <a:ext cx="2514243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500"/>
              </a:lnSpc>
              <a:buNone/>
            </a:pPr>
            <a:r>
              <a:rPr lang="en-US" sz="155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עם מוסדות אקדמיים ותעשייתיים</a:t>
            </a:r>
            <a:endParaRPr lang="en-US" sz="155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319" y="936427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3245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לאן אנחנו שואפים?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7360920" y="2325052"/>
            <a:ext cx="6126599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1000+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881229" y="344816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צעירים מוכשרים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60920" y="3982045"/>
            <a:ext cx="612659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100"/>
              </a:lnSpc>
              <a:buNone/>
            </a:pPr>
            <a:r>
              <a:rPr lang="en-US" sz="19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להכשיר אלפי צעירים לעולמות הטכנולוגיה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2325052"/>
            <a:ext cx="6126599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2384346" y="344816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פערים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4037" y="3982045"/>
            <a:ext cx="612659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100"/>
              </a:lnSpc>
              <a:buNone/>
            </a:pPr>
            <a:r>
              <a:rPr lang="en-US" sz="19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לצמצם את הפערים התעסוקתיים וההשכלתיים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60920" y="5241012"/>
            <a:ext cx="6126599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50%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8881229" y="636412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ייצוג נשים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60920" y="6898005"/>
            <a:ext cx="612659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100"/>
              </a:lnSpc>
              <a:buNone/>
            </a:pPr>
            <a:r>
              <a:rPr lang="en-US" sz="19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להעלות את שיעור הנשים והגברים הדרוזיות בתעשיית ההייטק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4037" y="5241012"/>
            <a:ext cx="6126599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100%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2384346" y="636412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רשת בוגרים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64037" y="6898005"/>
            <a:ext cx="612659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100"/>
              </a:lnSpc>
              <a:buNone/>
            </a:pPr>
            <a:r>
              <a:rPr lang="en-US" sz="19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לבנות רשת בוגרים פעילה – המובילה שינוי מתוך הקהילה</a:t>
            </a:r>
            <a:endParaRPr lang="en-US" sz="19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4046" y="833795"/>
            <a:ext cx="5883473" cy="735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750"/>
              </a:lnSpc>
              <a:buNone/>
            </a:pPr>
            <a:r>
              <a:rPr lang="en-US" sz="4600" b="1" dirty="0">
                <a:solidFill>
                  <a:srgbClr val="3245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חזון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1145025" y="2304574"/>
            <a:ext cx="12310943" cy="37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950"/>
              </a:lnSpc>
              <a:buNone/>
            </a:pPr>
            <a:r>
              <a:rPr lang="en-US" sz="185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במקום 'ברית הדמים' – 'ברית החיים'. חיבור מלא, עמוק ושוויוני בין העדה הדרוזית למדינת ישראל – דרך חינוך, טכנולוגיה והזדמנות</a:t>
            </a:r>
            <a:r>
              <a:rPr lang="en-US" sz="185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23674" y="2039898"/>
            <a:ext cx="30480" cy="905947"/>
          </a:xfrm>
          <a:prstGeom prst="rect">
            <a:avLst/>
          </a:prstGeom>
          <a:solidFill>
            <a:srgbClr val="2E368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993" y="3210520"/>
            <a:ext cx="2089428" cy="135588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6388" y="3849648"/>
            <a:ext cx="330875" cy="4136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6010" y="3445788"/>
            <a:ext cx="2865715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שוויון מלא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6176010" y="3954542"/>
            <a:ext cx="2865715" cy="37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950"/>
              </a:lnSpc>
              <a:buNone/>
            </a:pPr>
            <a:r>
              <a:rPr lang="en-US" sz="185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שילוב שוויוני בחברה הישראלית</a:t>
            </a:r>
            <a:endParaRPr lang="en-US" sz="1850" dirty="0"/>
          </a:p>
        </p:txBody>
      </p:sp>
      <p:sp>
        <p:nvSpPr>
          <p:cNvPr id="9" name="Shape 5"/>
          <p:cNvSpPr/>
          <p:nvPr/>
        </p:nvSpPr>
        <p:spPr>
          <a:xfrm>
            <a:off x="882491" y="4580573"/>
            <a:ext cx="8335685" cy="15240"/>
          </a:xfrm>
          <a:prstGeom prst="roundRect">
            <a:avLst>
              <a:gd name="adj" fmla="val 648570"/>
            </a:avLst>
          </a:prstGeom>
          <a:solidFill>
            <a:srgbClr val="BEC1D9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2219" y="4625221"/>
            <a:ext cx="4178975" cy="1355884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6388" y="5096351"/>
            <a:ext cx="330875" cy="4136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84363" y="4860488"/>
            <a:ext cx="2612588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מובילות טכנולוגית</a:t>
            </a:r>
            <a:endParaRPr lang="en-US" sz="2300" dirty="0"/>
          </a:p>
        </p:txBody>
      </p:sp>
      <p:sp>
        <p:nvSpPr>
          <p:cNvPr id="13" name="Text 7"/>
          <p:cNvSpPr/>
          <p:nvPr/>
        </p:nvSpPr>
        <p:spPr>
          <a:xfrm>
            <a:off x="5384363" y="5369243"/>
            <a:ext cx="2612588" cy="37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950"/>
              </a:lnSpc>
              <a:buNone/>
            </a:pPr>
            <a:r>
              <a:rPr lang="en-US" sz="185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השתלבות בחזית הטכנולוגיה</a:t>
            </a:r>
            <a:endParaRPr lang="en-US" sz="1850" dirty="0"/>
          </a:p>
        </p:txBody>
      </p:sp>
      <p:sp>
        <p:nvSpPr>
          <p:cNvPr id="14" name="Shape 8"/>
          <p:cNvSpPr/>
          <p:nvPr/>
        </p:nvSpPr>
        <p:spPr>
          <a:xfrm>
            <a:off x="882491" y="5995273"/>
            <a:ext cx="7290911" cy="15240"/>
          </a:xfrm>
          <a:prstGeom prst="roundRect">
            <a:avLst>
              <a:gd name="adj" fmla="val 648570"/>
            </a:avLst>
          </a:prstGeom>
          <a:solidFill>
            <a:srgbClr val="BEC1D9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446" y="6039922"/>
            <a:ext cx="6268522" cy="1355884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6269" y="6511052"/>
            <a:ext cx="330875" cy="41362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010501" y="6275189"/>
            <a:ext cx="2941677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חינוך איכותי</a:t>
            </a:r>
            <a:endParaRPr lang="en-US" sz="2300" dirty="0"/>
          </a:p>
        </p:txBody>
      </p:sp>
      <p:sp>
        <p:nvSpPr>
          <p:cNvPr id="18" name="Text 10"/>
          <p:cNvSpPr/>
          <p:nvPr/>
        </p:nvSpPr>
        <p:spPr>
          <a:xfrm>
            <a:off x="3846909" y="6783943"/>
            <a:ext cx="3105269" cy="37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950"/>
              </a:lnSpc>
              <a:buNone/>
            </a:pPr>
            <a:r>
              <a:rPr lang="en-US" sz="185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הנגשת השכלה והכשרה מקצועית</a:t>
            </a:r>
            <a:endParaRPr lang="en-US" sz="18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4332" y="1485543"/>
            <a:ext cx="6453187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3245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לתורמים ולשותפים שלנו</a:t>
            </a:r>
            <a:endParaRPr lang="en-US" sz="4850" dirty="0"/>
          </a:p>
        </p:txBody>
      </p:sp>
      <p:sp>
        <p:nvSpPr>
          <p:cNvPr id="7" name="Text 1"/>
          <p:cNvSpPr/>
          <p:nvPr/>
        </p:nvSpPr>
        <p:spPr>
          <a:xfrm>
            <a:off x="864036" y="2691408"/>
            <a:ext cx="1262348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en-US" sz="40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התמיכה שלכם היא שאפשרה לנו </a:t>
            </a:r>
            <a:r>
              <a:rPr lang="en-US" sz="4000" dirty="0" err="1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לבנות</a:t>
            </a:r>
            <a:r>
              <a:rPr lang="en-US" sz="40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40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את</a:t>
            </a:r>
            <a:r>
              <a:rPr lang="he-IL" sz="40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endParaRPr lang="en-US" sz="4000" dirty="0" smtClean="0">
              <a:solidFill>
                <a:srgbClr val="002060"/>
              </a:solidFill>
              <a:latin typeface="Nunito Sans" pitchFamily="34" charset="0"/>
              <a:ea typeface="Nunito Sans" pitchFamily="34" charset="-122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40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מרכז החדשנות</a:t>
            </a:r>
            <a:r>
              <a:rPr lang="en-US" sz="40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DTEC </a:t>
            </a:r>
            <a:r>
              <a:rPr lang="he-IL" sz="40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ו</a:t>
            </a:r>
            <a:r>
              <a:rPr lang="en-US" sz="40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להעניק</a:t>
            </a:r>
            <a:r>
              <a:rPr lang="en-US" sz="40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40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עתיד</a:t>
            </a:r>
            <a:r>
              <a:rPr lang="en-US" sz="40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en-US" sz="40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טוב</a:t>
            </a:r>
            <a:r>
              <a:rPr lang="en-US" sz="40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40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יותר</a:t>
            </a:r>
            <a:r>
              <a:rPr lang="en-US" sz="40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40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לדור</a:t>
            </a:r>
            <a:r>
              <a:rPr lang="en-US" sz="40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 </a:t>
            </a:r>
            <a:r>
              <a:rPr lang="en-US" sz="4000" dirty="0" err="1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הבא</a:t>
            </a:r>
            <a:r>
              <a:rPr lang="en-US" sz="4000" dirty="0" smtClean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.</a:t>
            </a:r>
            <a:endParaRPr lang="en-US" sz="400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  <p:pic>
        <p:nvPicPr>
          <p:cNvPr id="9" name="תמונה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02636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8583" y="1285729"/>
            <a:ext cx="10538936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b="1" dirty="0" err="1" smtClean="0">
                <a:solidFill>
                  <a:srgbClr val="3245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DTECמקום</a:t>
            </a:r>
            <a:r>
              <a:rPr lang="en-US" sz="4850" b="1" dirty="0" smtClean="0">
                <a:solidFill>
                  <a:srgbClr val="3245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4850" b="1" dirty="0">
                <a:solidFill>
                  <a:srgbClr val="3245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שבו חלומות פוגשים עתיד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10401419" y="5463778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פיתוח קריירה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526548" y="5997654"/>
            <a:ext cx="396097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100"/>
              </a:lnSpc>
              <a:buNone/>
            </a:pPr>
            <a:r>
              <a:rPr lang="en-US" sz="19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מסלולי התפתחות מקצועית בעולם ההייטק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6070163" y="5463778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למידה משותפת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5195292" y="5997654"/>
            <a:ext cx="396097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100"/>
              </a:lnSpc>
              <a:buNone/>
            </a:pPr>
            <a:r>
              <a:rPr lang="en-US" sz="19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סביבת למידה תומכת ומעצימה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1738908" y="5463778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יזמות וחדשנות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864037" y="5997654"/>
            <a:ext cx="396097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100"/>
              </a:lnSpc>
              <a:buNone/>
            </a:pPr>
            <a:r>
              <a:rPr lang="en-US" sz="1900" dirty="0">
                <a:solidFill>
                  <a:srgbClr val="002060"/>
                </a:solidFill>
                <a:latin typeface="Nunito Sans" pitchFamily="34" charset="0"/>
                <a:ea typeface="Nunito Sans" pitchFamily="34" charset="-122"/>
              </a:rPr>
              <a:t>טיפוח רעיונות חדשניים והפיכתם למציאות</a:t>
            </a:r>
            <a:endParaRPr lang="en-US" sz="1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  <p:pic>
        <p:nvPicPr>
          <p:cNvPr id="13" name="תמונה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2552700"/>
            <a:ext cx="3701700" cy="2471227"/>
          </a:xfrm>
          <a:prstGeom prst="rect">
            <a:avLst/>
          </a:prstGeom>
        </p:spPr>
      </p:pic>
      <p:pic>
        <p:nvPicPr>
          <p:cNvPr id="14" name="תמונה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87" y="2552700"/>
            <a:ext cx="4052322" cy="2471227"/>
          </a:xfrm>
          <a:prstGeom prst="rect">
            <a:avLst/>
          </a:prstGeom>
        </p:spPr>
      </p:pic>
      <p:pic>
        <p:nvPicPr>
          <p:cNvPr id="18" name="תמונה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304" y="2552700"/>
            <a:ext cx="4013200" cy="2504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</TotalTime>
  <Words>535</Words>
  <Application>Microsoft Office PowerPoint</Application>
  <PresentationFormat>מותאם אישית</PresentationFormat>
  <Paragraphs>128</Paragraphs>
  <Slides>13</Slides>
  <Notes>12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20" baseType="lpstr">
      <vt:lpstr>Calibri</vt:lpstr>
      <vt:lpstr>Narkisim</vt:lpstr>
      <vt:lpstr>Miriam Fixed</vt:lpstr>
      <vt:lpstr>Arial</vt:lpstr>
      <vt:lpstr>Nunito Sans</vt:lpstr>
      <vt:lpstr>Inter Bold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14</cp:revision>
  <dcterms:created xsi:type="dcterms:W3CDTF">2025-04-20T16:56:49Z</dcterms:created>
  <dcterms:modified xsi:type="dcterms:W3CDTF">2025-04-22T10:20:36Z</dcterms:modified>
</cp:coreProperties>
</file>